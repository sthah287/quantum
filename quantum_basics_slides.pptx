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182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6182E"/>
                </a:solidFill>
                <a:latin typeface="Arial"/>
              </a:rPr>
              <a:t>Measurement probabilities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Probability</c:v>
                </c:pt>
              </c:strCache>
            </c:strRef>
          </c:tx>
          <c:spPr>
            <a:solidFill>
              <a:srgbClr val="1E2A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618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|0⟩</c:v>
                </c:pt>
                <c:pt idx="1">
                  <c:v>|1⟩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91-45EE-8561-E4C0A2D5CF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C6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</c:scaling>
        <c:delete val="0"/>
        <c:axPos val="l"/>
        <c:majorGridlines>
          <c:spPr>
            <a:ln w="12700" cap="flat">
              <a:solidFill>
                <a:srgbClr val="E4E9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182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6182E"/>
                </a:solidFill>
                <a:latin typeface="Arial"/>
              </a:rPr>
              <a:t>1000 shots on a superposition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Counts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618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508</c:v>
                </c:pt>
                <c:pt idx="1">
                  <c:v>492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11-4BF8-A3D6-02BFC3AFF2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C6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0"/>
        </c:scaling>
        <c:delete val="0"/>
        <c:axPos val="l"/>
        <c:majorGridlines>
          <c:spPr>
            <a:ln w="12700" cap="flat">
              <a:solidFill>
                <a:srgbClr val="E4E9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182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6182E"/>
                </a:solidFill>
                <a:latin typeface="Arial"/>
              </a:rPr>
              <a:t>RX(θ): probability of measuring 0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P(0)</c:v>
                </c:pt>
              </c:strCache>
            </c:strRef>
          </c:tx>
          <c:spPr>
            <a:ln w="38100" cap="flat">
              <a:solidFill>
                <a:srgbClr val="22D3E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3">
                  <c:v>π/2</c:v>
                </c:pt>
                <c:pt idx="6">
                  <c:v>π</c:v>
                </c:pt>
                <c:pt idx="9">
                  <c:v>3π/2</c:v>
                </c:pt>
                <c:pt idx="12">
                  <c:v>2π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0.93300000000000005</c:v>
                </c:pt>
                <c:pt idx="2">
                  <c:v>0.75</c:v>
                </c:pt>
                <c:pt idx="3">
                  <c:v>0.5</c:v>
                </c:pt>
                <c:pt idx="4">
                  <c:v>0.25</c:v>
                </c:pt>
                <c:pt idx="5">
                  <c:v>6.7000000000000004E-2</c:v>
                </c:pt>
                <c:pt idx="6">
                  <c:v>0</c:v>
                </c:pt>
                <c:pt idx="7">
                  <c:v>6.7000000000000004E-2</c:v>
                </c:pt>
                <c:pt idx="8">
                  <c:v>0.25</c:v>
                </c:pt>
                <c:pt idx="9">
                  <c:v>0.5</c:v>
                </c:pt>
                <c:pt idx="10">
                  <c:v>0.75</c:v>
                </c:pt>
                <c:pt idx="11">
                  <c:v>0.93300000000000005</c:v>
                </c:pt>
                <c:pt idx="12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8D2-4888-9DC8-CE84B40E91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4E9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182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6182E"/>
                </a:solidFill>
                <a:latin typeface="Arial"/>
              </a:rPr>
              <a:t>Bell state outcomes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Probability</c:v>
                </c:pt>
              </c:strCache>
            </c:strRef>
          </c:tx>
          <c:spPr>
            <a:solidFill>
              <a:srgbClr val="1E2A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618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00</c:v>
                </c:pt>
                <c:pt idx="1">
                  <c:v>01</c:v>
                </c:pt>
                <c:pt idx="2">
                  <c:v>10</c:v>
                </c:pt>
                <c:pt idx="3">
                  <c:v>11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</c:v>
                </c:pt>
                <c:pt idx="2">
                  <c:v>0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2F-4FEF-AD7C-CC448BCF80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C6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</c:scaling>
        <c:delete val="0"/>
        <c:axPos val="l"/>
        <c:majorGridlines>
          <c:spPr>
            <a:ln w="12700" cap="flat">
              <a:solidFill>
                <a:srgbClr val="E4E9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 + CNOT (entangled)</c:v>
                </c:pt>
              </c:strCache>
            </c:strRef>
          </c:tx>
          <c:spPr>
            <a:solidFill>
              <a:srgbClr val="1E2A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618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00</c:v>
                </c:pt>
                <c:pt idx="1">
                  <c:v>01</c:v>
                </c:pt>
                <c:pt idx="2">
                  <c:v>10</c:v>
                </c:pt>
                <c:pt idx="3">
                  <c:v>11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</c:v>
                </c:pt>
                <c:pt idx="2">
                  <c:v>0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FE-43BC-B694-07FBD1E83F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 on each qubit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618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00</c:v>
                </c:pt>
                <c:pt idx="1">
                  <c:v>01</c:v>
                </c:pt>
                <c:pt idx="2">
                  <c:v>10</c:v>
                </c:pt>
                <c:pt idx="3">
                  <c:v>11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FE-43BC-B694-07FBD1E83F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C6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</c:scaling>
        <c:delete val="0"/>
        <c:axPos val="l"/>
        <c:majorGridlines>
          <c:spPr>
            <a:ln w="12700" cap="flat">
              <a:solidFill>
                <a:srgbClr val="E4E9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618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2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this deck covers the basic ideas of quantum computing and shows each one as a small PennyLane 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classical bit is one value. A qubit is a combination of both, described by two amplitudes. Squaring the amplitudes gives the probabilities.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Hadamard gate is the standard way to create superposition. State vector shows both amplitudes equal; probs shows 50/50.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simulator we can look at the exact state. On hardware you only get samples, which is why counts are close to 500/500 but never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is the part that has no classical equivalent. Mention that H then Z gives [0.7071, -0.7071].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P(0) = cos squared of theta/2. This is the link to variational circuits: the angle is what gets optimised.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CNOT flips the second qubit only when the first is 1. Applied to a superposition it links the two qubits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comparison is the key point: randomness alone is not entanglement, correlation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parts using the Bell circuit as the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COMPUTING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Basics, and how circuits are built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Superposition, gates, measurement and entanglement — written as circuits in PennyLane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          Course:            Date: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5074920"/>
            <a:ext cx="10698480" cy="0"/>
          </a:xfrm>
          <a:prstGeom prst="line">
            <a:avLst/>
          </a:prstGeom>
          <a:noFill/>
          <a:ln w="15875">
            <a:solidFill>
              <a:srgbClr val="3A4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5806440"/>
            <a:ext cx="10698480" cy="0"/>
          </a:xfrm>
          <a:prstGeom prst="line">
            <a:avLst/>
          </a:prstGeom>
          <a:noFill/>
          <a:ln w="15875">
            <a:solidFill>
              <a:srgbClr val="3A4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5623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0" y="486460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0" y="4864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5074920"/>
            <a:ext cx="0" cy="7315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0" y="4983480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005072" y="5623560"/>
            <a:ext cx="402336" cy="402336"/>
          </a:xfrm>
          <a:prstGeom prst="ellipse">
            <a:avLst/>
          </a:prstGeom>
          <a:solidFill>
            <a:srgbClr val="121A3F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05072" y="5605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486460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3A4780"/>
          </a:solidFill>
          <a:ln w="12700">
            <a:solidFill>
              <a:srgbClr val="3A4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4864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412480" y="56052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3A4780"/>
          </a:solidFill>
          <a:ln w="12700">
            <a:solidFill>
              <a:srgbClr val="3A4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12480" y="5605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THE QUBIT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qubit is not just a 0 or a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3063240"/>
          </a:xfrm>
          <a:prstGeom prst="roundRect">
            <a:avLst>
              <a:gd name="adj" fmla="val 1791"/>
            </a:avLst>
          </a:prstGeom>
          <a:solidFill>
            <a:srgbClr val="F1F4FB"/>
          </a:solidFill>
          <a:ln w="12700">
            <a:solidFill>
              <a:srgbClr val="DF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C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BIT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61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 or  1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 one state. Read it as many times as you like, you get the same answer.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82512" y="1417320"/>
            <a:ext cx="5257800" cy="3063240"/>
          </a:xfrm>
          <a:prstGeom prst="roundRect">
            <a:avLst>
              <a:gd name="adj" fmla="val 1791"/>
            </a:avLst>
          </a:prstGeom>
          <a:solidFill>
            <a:srgbClr val="121A3F"/>
          </a:solidFill>
          <a:ln w="12700">
            <a:solidFill>
              <a:srgbClr val="121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02552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02552" y="2057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α|0⟩ + β|1⟩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702552" y="30632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states at once until it is measured. α and β are the amplitudes — they can be negative.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amplitude squared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61104" y="4892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qubits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61104" y="5212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2ⁿ amplitudes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73568" y="4892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qubits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73568" y="5212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[00, 01, 10, 11]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SUPERPOSITION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Hadamard puts a qubit in both states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577840" cy="1828800"/>
          </a:xfrm>
          <a:prstGeom prst="roundRect">
            <a:avLst>
              <a:gd name="adj" fmla="val 3000"/>
            </a:avLst>
          </a:prstGeom>
          <a:solidFill>
            <a:srgbClr val="F1F4FB"/>
          </a:solidFill>
          <a:ln w="12700">
            <a:solidFill>
              <a:srgbClr val="DF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25880" y="2377440"/>
            <a:ext cx="4206240" cy="0"/>
          </a:xfrm>
          <a:prstGeom prst="line">
            <a:avLst/>
          </a:prstGeom>
          <a:noFill/>
          <a:ln w="15875">
            <a:solidFill>
              <a:srgbClr val="1E2A5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77440" y="216712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77440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7764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[0.7071,  0.7071]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5577840" cy="502920"/>
          </a:xfrm>
          <a:prstGeom prst="roundRect">
            <a:avLst>
              <a:gd name="adj" fmla="val 10909"/>
            </a:avLst>
          </a:prstGeom>
          <a:solidFill>
            <a:srgbClr val="F1F4FB"/>
          </a:solidFill>
          <a:ln w="12700">
            <a:solidFill>
              <a:srgbClr val="DF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3474720"/>
            <a:ext cx="5358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qml.Hadamard(wires=0)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amplitudes become 1 / √2 = 0.7071. Squaring them gives 0.5 each, so measuring is a fair coin flip.</a:t>
            </a:r>
            <a:endParaRPr lang="en-US" sz="14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6537960" y="1463040"/>
          <a:ext cx="50749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MEASUREMENT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10896" cy="310896"/>
          </a:xfrm>
          <a:prstGeom prst="ellipse">
            <a:avLst/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481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qml.state()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79222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amplitudes. Simulator only — hardware cannot show you this.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310896" cy="310896"/>
          </a:xfrm>
          <a:prstGeom prst="ellipse">
            <a:avLst/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4140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qml.probs()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7249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probabilities of each outcome.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310896" cy="310896"/>
          </a:xfrm>
          <a:prstGeom prst="ellipse">
            <a:avLst/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3467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qml.counts()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657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shots and count results, the way real hardware works.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70832"/>
            <a:ext cx="310896" cy="310896"/>
          </a:xfrm>
          <a:prstGeom prst="ellipse">
            <a:avLst/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279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qml.expval(PauliZ)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59028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value: +1 for |0⟩, −1 for |1⟩, 0 for an even superposition.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5989320" cy="777240"/>
          </a:xfrm>
          <a:prstGeom prst="roundRect">
            <a:avLst>
              <a:gd name="adj" fmla="val 7059"/>
            </a:avLst>
          </a:prstGeom>
          <a:solidFill>
            <a:srgbClr val="F1F4FB"/>
          </a:solidFill>
          <a:ln w="12700">
            <a:solidFill>
              <a:srgbClr val="DF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5349240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collapses the state — one run gives one answer, so you repeat the circuit many times.</a:t>
            </a:r>
            <a:endParaRPr lang="en-US" sz="13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6858000" y="1463040"/>
          <a:ext cx="4754880" cy="461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GATES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1F4FB"/>
          </a:solidFill>
          <a:ln w="12700">
            <a:solidFill>
              <a:srgbClr val="DF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PauliX — the NOT gate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|0⟩ to |1⟩ and back.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1F4FB"/>
          </a:solidFill>
          <a:ln w="12700">
            <a:solidFill>
              <a:srgbClr val="DF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1920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6092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PauliZ — phase flip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6092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the sign of the |1⟩ amplitude.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1F4FB"/>
          </a:solidFill>
          <a:ln w="12700">
            <a:solidFill>
              <a:srgbClr val="DF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37033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3566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Hadamard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3931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|0⟩ into an even superposition.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24612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1F4FB"/>
          </a:solidFill>
          <a:ln w="12700">
            <a:solidFill>
              <a:srgbClr val="DF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3680" y="37033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60920" y="3566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CNOT — two qubits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60920" y="3931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the target only if the control is 1.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1109960" cy="868680"/>
          </a:xfrm>
          <a:prstGeom prst="roundRect">
            <a:avLst>
              <a:gd name="adj" fmla="val 6316"/>
            </a:avLst>
          </a:prstGeom>
          <a:solidFill>
            <a:srgbClr val="121A3F"/>
          </a:solidFill>
          <a:ln w="12700">
            <a:solidFill>
              <a:srgbClr val="121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5212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looks like it does nothing — the probabilities stay 50/50. But the sign it leaves behind changes the result as soon as another gate follows.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PARAMETERS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can take an angle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4008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600200"/>
            <a:ext cx="4389120" cy="502920"/>
          </a:xfrm>
          <a:prstGeom prst="roundRect">
            <a:avLst>
              <a:gd name="adj" fmla="val 10909"/>
            </a:avLst>
          </a:prstGeom>
          <a:solidFill>
            <a:srgbClr val="F1F4FB"/>
          </a:solidFill>
          <a:ln w="12700">
            <a:solidFill>
              <a:srgbClr val="DF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79208" y="1600200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qml.RX(theta, wires=0)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269480" y="22860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rotates the qubit by θ, so you can set any mix of |0⟩ and |1⟩ instead of only 0, 1 or 50/50.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269480" y="3108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 = 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73252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P(0) = 1.00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69480" y="3566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 = π/2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73252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P(0) = 0.50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269480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 = π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73252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P(0) = 0.00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269480" y="4663440"/>
            <a:ext cx="4389120" cy="1005840"/>
          </a:xfrm>
          <a:prstGeom prst="roundRect">
            <a:avLst>
              <a:gd name="adj" fmla="val 5455"/>
            </a:avLst>
          </a:prstGeom>
          <a:solidFill>
            <a:srgbClr val="121A3F"/>
          </a:solidFill>
          <a:ln w="12700">
            <a:solidFill>
              <a:srgbClr val="121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498080" y="46634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angles are the trainable parameters in quantum machine learning.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ENTANGLEMENT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Hadamard + CNOT makes the Bell state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577840" cy="2148840"/>
          </a:xfrm>
          <a:prstGeom prst="roundRect">
            <a:avLst>
              <a:gd name="adj" fmla="val 2553"/>
            </a:avLst>
          </a:prstGeom>
          <a:solidFill>
            <a:srgbClr val="F1F4FB"/>
          </a:solidFill>
          <a:ln w="12700">
            <a:solidFill>
              <a:srgbClr val="DF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25880" y="2148840"/>
            <a:ext cx="4297680" cy="0"/>
          </a:xfrm>
          <a:prstGeom prst="line">
            <a:avLst/>
          </a:prstGeom>
          <a:noFill/>
          <a:ln w="15875">
            <a:solidFill>
              <a:srgbClr val="1E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25880" y="2971800"/>
            <a:ext cx="4297680" cy="0"/>
          </a:xfrm>
          <a:prstGeom prst="line">
            <a:avLst/>
          </a:prstGeom>
          <a:noFill/>
          <a:ln w="15875">
            <a:solidFill>
              <a:srgbClr val="1E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74520" y="193852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7452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29000" y="2148840"/>
            <a:ext cx="0" cy="822960"/>
          </a:xfrm>
          <a:prstGeom prst="line">
            <a:avLst/>
          </a:prstGeom>
          <a:noFill/>
          <a:ln w="19050">
            <a:solidFill>
              <a:srgbClr val="1E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46704" y="2066544"/>
            <a:ext cx="164592" cy="164592"/>
          </a:xfrm>
          <a:prstGeom prst="ellipse">
            <a:avLst/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36976" y="2770632"/>
            <a:ext cx="384048" cy="384048"/>
          </a:xfrm>
          <a:prstGeom prst="ellipse">
            <a:avLst/>
          </a:prstGeom>
          <a:solidFill>
            <a:srgbClr val="F1F4FB"/>
          </a:solidFill>
          <a:ln w="19050">
            <a:solidFill>
              <a:srgbClr val="1E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36976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2336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(|00⟩ + |11⟩) / √2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577840" cy="777240"/>
          </a:xfrm>
          <a:prstGeom prst="roundRect">
            <a:avLst>
              <a:gd name="adj" fmla="val 7059"/>
            </a:avLst>
          </a:prstGeom>
          <a:solidFill>
            <a:srgbClr val="F1F4FB"/>
          </a:solidFill>
          <a:ln w="12700">
            <a:solidFill>
              <a:srgbClr val="DF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3794760"/>
            <a:ext cx="5358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qml.Hadamard(wires=0)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qml.CNOT(wires=[0, 1])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80060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00 and 11 ever come out. Each qubit on its own is still random — but measure one and you instantly know the other.</a:t>
            </a:r>
            <a:endParaRPr lang="en-US" sz="14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6537960" y="1463040"/>
          <a:ext cx="50749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THE DIFFERENCE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is not the same as entangled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9037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417320"/>
            <a:ext cx="3913632" cy="1737360"/>
          </a:xfrm>
          <a:prstGeom prst="roundRect">
            <a:avLst>
              <a:gd name="adj" fmla="val 3158"/>
            </a:avLst>
          </a:prstGeom>
          <a:solidFill>
            <a:srgbClr val="121A3F"/>
          </a:solidFill>
          <a:ln w="12700">
            <a:solidFill>
              <a:srgbClr val="121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0100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Entangled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01000" y="19659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outcomes always agree. The two qubits share one state and cannot be described separately.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26680" y="3337560"/>
            <a:ext cx="3913632" cy="1737360"/>
          </a:xfrm>
          <a:prstGeom prst="roundRect">
            <a:avLst>
              <a:gd name="adj" fmla="val 3158"/>
            </a:avLst>
          </a:prstGeom>
          <a:solidFill>
            <a:srgbClr val="F1F4FB"/>
          </a:solidFill>
          <a:ln w="12700">
            <a:solidFill>
              <a:srgbClr val="DF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01000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01000" y="3886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outcomes appear. Knowing one qubit tells you nothing about the other.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544068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circuits look random when you only watch one qubit. The correlation is what makes one of them entangled.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IN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parts of every PennyLane circuit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15184" cy="3566160"/>
          </a:xfrm>
          <a:prstGeom prst="roundRect">
            <a:avLst>
              <a:gd name="adj" fmla="val 2098"/>
            </a:avLst>
          </a:prstGeom>
          <a:solidFill>
            <a:srgbClr val="F1F4FB"/>
          </a:solidFill>
          <a:ln w="12700">
            <a:solidFill>
              <a:srgbClr val="DF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691640"/>
            <a:ext cx="310896" cy="3108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4871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runs — simulator or hardware.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" y="3310128"/>
            <a:ext cx="2240280" cy="1051560"/>
          </a:xfrm>
          <a:prstGeom prst="roundRect">
            <a:avLst>
              <a:gd name="adj" fmla="val 4348"/>
            </a:avLst>
          </a:prstGeom>
          <a:solidFill>
            <a:srgbClr val="121A3F"/>
          </a:solidFill>
          <a:ln w="12700">
            <a:solidFill>
              <a:srgbClr val="121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1248" y="3310128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qml.device(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"default.qubit",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wires=2)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63824" y="2926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92424" y="1463040"/>
            <a:ext cx="2615184" cy="3566160"/>
          </a:xfrm>
          <a:prstGeom prst="roundRect">
            <a:avLst>
              <a:gd name="adj" fmla="val 2098"/>
            </a:avLst>
          </a:prstGeom>
          <a:solidFill>
            <a:srgbClr val="F1F4FB"/>
          </a:solidFill>
          <a:ln w="12700">
            <a:solidFill>
              <a:srgbClr val="DF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48456" y="1691640"/>
            <a:ext cx="310896" cy="3108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48456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48456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QNode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48456" y="24871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function into a circuit.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93592" y="3310128"/>
            <a:ext cx="2240280" cy="1051560"/>
          </a:xfrm>
          <a:prstGeom prst="roundRect">
            <a:avLst>
              <a:gd name="adj" fmla="val 4348"/>
            </a:avLst>
          </a:prstGeom>
          <a:solidFill>
            <a:srgbClr val="121A3F"/>
          </a:solidFill>
          <a:ln w="12700">
            <a:solidFill>
              <a:srgbClr val="121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85032" y="3310128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@qml.qnode(dev)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bell():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07608" y="2926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236208" y="1463040"/>
            <a:ext cx="2615184" cy="3566160"/>
          </a:xfrm>
          <a:prstGeom prst="roundRect">
            <a:avLst>
              <a:gd name="adj" fmla="val 2098"/>
            </a:avLst>
          </a:prstGeom>
          <a:solidFill>
            <a:srgbClr val="F1F4FB"/>
          </a:solidFill>
          <a:ln w="12700">
            <a:solidFill>
              <a:srgbClr val="DF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92240" y="1691640"/>
            <a:ext cx="310896" cy="3108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92240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24871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 the order written.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37376" y="3310128"/>
            <a:ext cx="2240280" cy="1051560"/>
          </a:xfrm>
          <a:prstGeom prst="roundRect">
            <a:avLst>
              <a:gd name="adj" fmla="val 4348"/>
            </a:avLst>
          </a:prstGeom>
          <a:solidFill>
            <a:srgbClr val="121A3F"/>
          </a:solidFill>
          <a:ln w="12700">
            <a:solidFill>
              <a:srgbClr val="121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28816" y="3310128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qml.Hadamard(0)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qml.CNOT([0,1])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51392" y="2926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079992" y="1463040"/>
            <a:ext cx="2615184" cy="3566160"/>
          </a:xfrm>
          <a:prstGeom prst="roundRect">
            <a:avLst>
              <a:gd name="adj" fmla="val 2098"/>
            </a:avLst>
          </a:prstGeom>
          <a:solidFill>
            <a:srgbClr val="F1F4FB"/>
          </a:solidFill>
          <a:ln w="12700">
            <a:solidFill>
              <a:srgbClr val="DFE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336024" y="1691640"/>
            <a:ext cx="310896" cy="3108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336024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36024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336024" y="24871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back out.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281160" y="3310128"/>
            <a:ext cx="2240280" cy="1051560"/>
          </a:xfrm>
          <a:prstGeom prst="roundRect">
            <a:avLst>
              <a:gd name="adj" fmla="val 4348"/>
            </a:avLst>
          </a:prstGeom>
          <a:solidFill>
            <a:srgbClr val="121A3F"/>
          </a:solidFill>
          <a:ln w="12700">
            <a:solidFill>
              <a:srgbClr val="121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372600" y="3310128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qml.probs(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wires=[0,1])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534924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qml.draw(bell)() prints the circuit as text, so you can check the gates are where you think they are.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944</Words>
  <Application>Microsoft Office PowerPoint</Application>
  <PresentationFormat>Widescreen</PresentationFormat>
  <Paragraphs>137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Himesh Shrestha</cp:lastModifiedBy>
  <cp:revision>4</cp:revision>
  <dcterms:created xsi:type="dcterms:W3CDTF">2026-07-27T05:58:43Z</dcterms:created>
  <dcterms:modified xsi:type="dcterms:W3CDTF">2026-07-28T14:56:15Z</dcterms:modified>
</cp:coreProperties>
</file>